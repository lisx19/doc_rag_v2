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80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82" r:id="rId23"/>
    <p:sldId id="281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28090">
              <a:alpha val="2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00A896">
              <a:alpha val="1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2C39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HSK-RAG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基于检索增强生成的汉语水平考试知识问答系统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0" y="3200400"/>
            <a:ext cx="3657600" cy="1828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7" name="Text 5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课程：人工智能应用实践（IB00126）</a:t>
            </a:r>
            <a:endParaRPr lang="en-US" sz="1400" dirty="0"/>
          </a:p>
          <a:p>
            <a:pPr marL="0" algn="ctr">
              <a:buClrTx/>
              <a:buSzTx/>
              <a:buFontTx/>
              <a:buNone/>
            </a:pPr>
            <a:endParaRPr lang="en-US" sz="1400" dirty="0">
              <a:solidFill>
                <a:srgbClr val="64748B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algn="ctr">
              <a:buClrTx/>
              <a:buSzTx/>
              <a:buFontTx/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组员：李树鑫、彭世炽</a:t>
            </a:r>
            <a:endParaRPr lang="en-US" sz="1400" dirty="0">
              <a:solidFill>
                <a:srgbClr val="64748B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388620" y="1134110"/>
            <a:ext cx="523240" cy="52578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388620" y="1134110"/>
            <a:ext cx="523240" cy="5257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2F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b="1" dirty="0">
              <a:solidFill>
                <a:srgbClr val="1A2F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992505" y="1189990"/>
            <a:ext cx="4994910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项目背景与需求分析</a:t>
            </a:r>
            <a:endParaRPr lang="en-US" sz="2400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387985" y="2148840"/>
            <a:ext cx="523240" cy="52324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387985" y="2148840"/>
            <a:ext cx="523240" cy="523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2F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b="1" dirty="0">
              <a:solidFill>
                <a:srgbClr val="1A2F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992505" y="22047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技术方案设计</a:t>
            </a:r>
            <a:endParaRPr lang="en-US" sz="2400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387985" y="3042920"/>
            <a:ext cx="523240" cy="52324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387985" y="3042920"/>
            <a:ext cx="523240" cy="523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2F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b="1" dirty="0">
              <a:solidFill>
                <a:srgbClr val="1A2F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992505" y="309880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核心模块实现</a:t>
            </a:r>
            <a:endParaRPr lang="en-US" sz="2400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4705985" y="1153160"/>
            <a:ext cx="467360" cy="488315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4705350" y="1153160"/>
            <a:ext cx="48387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2F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b="1" dirty="0">
              <a:solidFill>
                <a:srgbClr val="1A2F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5290185" y="1189990"/>
            <a:ext cx="4994910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TDD-for-AI 实践</a:t>
            </a:r>
            <a:endParaRPr lang="en-US" sz="2400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4704715" y="2167890"/>
            <a:ext cx="485140" cy="48514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4704715" y="2167890"/>
            <a:ext cx="485140" cy="4851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2F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b="1" dirty="0">
              <a:solidFill>
                <a:srgbClr val="1A2F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5290185" y="22047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测试结果与评估</a:t>
            </a:r>
            <a:endParaRPr lang="en-US" sz="2400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>
            <a:off x="4704715" y="3061970"/>
            <a:ext cx="485140" cy="48514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20" name="Text 18"/>
          <p:cNvSpPr/>
          <p:nvPr>
            <p:custDataLst>
              <p:tags r:id="rId17"/>
            </p:custDataLst>
          </p:nvPr>
        </p:nvSpPr>
        <p:spPr>
          <a:xfrm>
            <a:off x="4704715" y="3061970"/>
            <a:ext cx="485140" cy="4851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2F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b="1" dirty="0">
              <a:solidFill>
                <a:srgbClr val="1A2F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5290185" y="309880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总结与未来改进</a:t>
            </a:r>
            <a:endParaRPr lang="en-US" sz="2400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2743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项目背景与需求分析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0"/>
            <a:ext cx="1828800" cy="54864"/>
          </a:xfrm>
          <a:prstGeom prst="rect">
            <a:avLst/>
          </a:prstGeom>
          <a:solidFill>
            <a:srgbClr val="02C39A"/>
          </a:solid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项目背景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汉语水平考试（HSK）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全球最具影响力的中文水平标准化考试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每年参加考试人数超过百万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包含 1-6 级（新版 7-9 级）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涵盖听力、阅读、写作、口语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备考痛点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真题获取困难：历年真题分散在各类资源中，缺乏统一检索入口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知识点查找低效：需翻阅大量纸质材料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版本迭代信息滞后：HSK3.0 改革（2026年7月）带来新要求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个性化学习支持不足：传统搜索引擎难以提供精准领域知识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项目背景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9" name="Shape 7"/>
          <p:cNvSpPr/>
          <p:nvPr/>
        </p:nvSpPr>
        <p:spPr>
          <a:xfrm>
            <a:off x="457200" y="822960"/>
            <a:ext cx="73152" cy="1463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0" name="Text 8"/>
          <p:cNvSpPr/>
          <p:nvPr/>
        </p:nvSpPr>
        <p:spPr>
          <a:xfrm>
            <a:off x="685800" y="91440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234440"/>
            <a:ext cx="7772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基于 RAG（检索增强生成）技术，构建 HSK 考试知识问答系统，整合 200+ 套真题、9 本 PPT 课件、6 本词汇书等资源，为用户提供精准、高效、可追溯的 HSK 知识检索服务。</a:t>
            </a:r>
            <a:endParaRPr lang="en-US" sz="13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8985" y="2324735"/>
            <a:ext cx="3395345" cy="27679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rcRect r="59455"/>
          <a:stretch>
            <a:fillRect/>
          </a:stretch>
        </p:blipFill>
        <p:spPr>
          <a:xfrm>
            <a:off x="1149985" y="2310130"/>
            <a:ext cx="2816225" cy="2682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需求分析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31850"/>
            <a:ext cx="8229600" cy="36576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5" name="Text 3"/>
          <p:cNvSpPr/>
          <p:nvPr/>
        </p:nvSpPr>
        <p:spPr>
          <a:xfrm>
            <a:off x="548640" y="83185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需求类别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831850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需求描述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0" y="83185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优先级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97610"/>
            <a:ext cx="8229600" cy="64008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9" name="Text 7"/>
          <p:cNvSpPr/>
          <p:nvPr/>
        </p:nvSpPr>
        <p:spPr>
          <a:xfrm>
            <a:off x="548640" y="119761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知识覆盖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1197610"/>
            <a:ext cx="5303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完整收录 HSK 1-6 级真题、教材、词汇大纲等资源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23760" y="119761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37690"/>
            <a:ext cx="8229600" cy="6400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548640" y="183769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精准检索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1837690"/>
            <a:ext cx="5303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支持基于向量相似度的语义检索，返回最相关文档片段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23760" y="183769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77770"/>
            <a:ext cx="8229600" cy="64008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17" name="Text 15"/>
          <p:cNvSpPr/>
          <p:nvPr/>
        </p:nvSpPr>
        <p:spPr>
          <a:xfrm>
            <a:off x="548640" y="247777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多格式支持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2477770"/>
            <a:ext cx="5303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支持 PDF、DOC、PPT、TXT 等多种文档格式解析与入库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23760" y="247777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117850"/>
            <a:ext cx="8229600" cy="6400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548640" y="311785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增量更新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0240" y="3117850"/>
            <a:ext cx="5303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支持知识库的增量更新，无需每次重新构建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311785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中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57930"/>
            <a:ext cx="8229600" cy="64008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25" name="Text 23"/>
          <p:cNvSpPr/>
          <p:nvPr/>
        </p:nvSpPr>
        <p:spPr>
          <a:xfrm>
            <a:off x="548640" y="375793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版本追溯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920240" y="3757930"/>
            <a:ext cx="5303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支持 HSK3.0 新版样题和旧版真题的混合检索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375793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中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398010"/>
            <a:ext cx="8229600" cy="6400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548640" y="439801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去重机制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920240" y="4398010"/>
            <a:ext cx="5303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对多源文档进行多级去重，减少冗余信息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0" y="439801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中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2743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技术方案设计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0"/>
            <a:ext cx="1828800" cy="54864"/>
          </a:xfrm>
          <a:prstGeom prst="rect">
            <a:avLst/>
          </a:prstGeom>
          <a:solidFill>
            <a:srgbClr val="02C39A"/>
          </a:solid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技术选型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623945" cy="857885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5" name="Shape 3"/>
          <p:cNvSpPr/>
          <p:nvPr/>
        </p:nvSpPr>
        <p:spPr>
          <a:xfrm>
            <a:off x="457200" y="914400"/>
            <a:ext cx="105410" cy="857885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6" name="Text 4"/>
          <p:cNvSpPr/>
          <p:nvPr/>
        </p:nvSpPr>
        <p:spPr>
          <a:xfrm>
            <a:off x="594360" y="960120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向量数据库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170432"/>
            <a:ext cx="2468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Chroma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30020"/>
            <a:ext cx="281051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轻量级、Python 原生、支持持久化、社区活跃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28185" y="914400"/>
            <a:ext cx="3623945" cy="857885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10" name="Shape 8"/>
          <p:cNvSpPr/>
          <p:nvPr/>
        </p:nvSpPr>
        <p:spPr>
          <a:xfrm>
            <a:off x="4528185" y="914400"/>
            <a:ext cx="105410" cy="857885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1" name="Text 9"/>
          <p:cNvSpPr/>
          <p:nvPr/>
        </p:nvSpPr>
        <p:spPr>
          <a:xfrm>
            <a:off x="4665345" y="960120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 模型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5345" y="1170432"/>
            <a:ext cx="2468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BGE-base-zh-v1.5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5345" y="1430020"/>
            <a:ext cx="281051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中文语义理解能力强、768 维向量精度高、支持 GPU 加速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826895"/>
            <a:ext cx="3623945" cy="857885"/>
          </a:xfrm>
          <a:prstGeom prst="rect">
            <a:avLst/>
          </a:prstGeom>
          <a:solidFill>
            <a:srgbClr val="F5FAFA"/>
          </a:solidFill>
        </p:spPr>
        <p:txBody>
          <a:bodyPr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1826895"/>
            <a:ext cx="105410" cy="857885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6" name="Text 14"/>
          <p:cNvSpPr/>
          <p:nvPr/>
        </p:nvSpPr>
        <p:spPr>
          <a:xfrm>
            <a:off x="594360" y="1872488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文档解析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082800"/>
            <a:ext cx="2468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Unstructured + PaddleOCR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2342515"/>
            <a:ext cx="281051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多格式支持、自动降级到 OCR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28185" y="1826895"/>
            <a:ext cx="3623945" cy="857885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20" name="Shape 18"/>
          <p:cNvSpPr/>
          <p:nvPr/>
        </p:nvSpPr>
        <p:spPr>
          <a:xfrm>
            <a:off x="4528185" y="1826895"/>
            <a:ext cx="105410" cy="857885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1" name="Text 19"/>
          <p:cNvSpPr/>
          <p:nvPr/>
        </p:nvSpPr>
        <p:spPr>
          <a:xfrm>
            <a:off x="4665345" y="1872488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重排序模型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5345" y="2082800"/>
            <a:ext cx="2468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BGE-reranker-base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5345" y="2342515"/>
            <a:ext cx="281051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交叉编码器精度高于双编码器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745740"/>
            <a:ext cx="3623945" cy="857885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25" name="Shape 23"/>
          <p:cNvSpPr/>
          <p:nvPr/>
        </p:nvSpPr>
        <p:spPr>
          <a:xfrm>
            <a:off x="457200" y="2745740"/>
            <a:ext cx="105410" cy="857885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6" name="Text 24"/>
          <p:cNvSpPr/>
          <p:nvPr/>
        </p:nvSpPr>
        <p:spPr>
          <a:xfrm>
            <a:off x="594360" y="2791206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开发语言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3001518"/>
            <a:ext cx="2468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Python 3.11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261360"/>
            <a:ext cx="281051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生态完善、AI/ML 库支持好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28185" y="2745740"/>
            <a:ext cx="3623945" cy="857885"/>
          </a:xfrm>
          <a:prstGeom prst="rect">
            <a:avLst/>
          </a:prstGeom>
          <a:solidFill>
            <a:srgbClr val="F5FAFA"/>
          </a:solidFill>
        </p:spPr>
        <p:txBody>
          <a:bodyPr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528185" y="2745740"/>
            <a:ext cx="105410" cy="857885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1" name="Text 29"/>
          <p:cNvSpPr/>
          <p:nvPr/>
        </p:nvSpPr>
        <p:spPr>
          <a:xfrm>
            <a:off x="4665345" y="2791206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配置管理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5345" y="3001518"/>
            <a:ext cx="2468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YAML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65345" y="3261360"/>
            <a:ext cx="281051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可读性强、支持分层配置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solidFill>
            <a:srgbClr val="02C39A">
              <a:alpha val="8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457200" y="914400"/>
            <a:ext cx="1645920" cy="82296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6" name="Text 4"/>
          <p:cNvSpPr/>
          <p:nvPr/>
        </p:nvSpPr>
        <p:spPr>
          <a:xfrm>
            <a:off x="457200" y="914400"/>
            <a:ext cx="1645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用户交互层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914400"/>
            <a:ext cx="6217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F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 命令行接口（build | retrieve | status | clean | init）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69164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solidFill>
            <a:srgbClr val="00A896">
              <a:alpha val="8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57200" y="1874520"/>
            <a:ext cx="1645920" cy="82296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11" name="Text 9"/>
          <p:cNvSpPr/>
          <p:nvPr/>
        </p:nvSpPr>
        <p:spPr>
          <a:xfrm>
            <a:off x="457200" y="1874520"/>
            <a:ext cx="1645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Pipeline 编排层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874520"/>
            <a:ext cx="6217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F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PipelineManager（模块懒加载 + 阶段追踪）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solidFill>
            <a:srgbClr val="028090">
              <a:alpha val="8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2834640"/>
            <a:ext cx="1645920" cy="82296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6" name="Text 14"/>
          <p:cNvSpPr/>
          <p:nvPr/>
        </p:nvSpPr>
        <p:spPr>
          <a:xfrm>
            <a:off x="457200" y="2834640"/>
            <a:ext cx="1645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核心处理流水线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834640"/>
            <a:ext cx="6217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F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Loader → Cleaner → Chunker → Deduper → Encoder → Retriever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61188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0" name="Shape 18"/>
          <p:cNvSpPr/>
          <p:nvPr/>
        </p:nvSpPr>
        <p:spPr>
          <a:xfrm>
            <a:off x="457200" y="3794760"/>
            <a:ext cx="1645920" cy="82296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1" name="Text 19"/>
          <p:cNvSpPr/>
          <p:nvPr/>
        </p:nvSpPr>
        <p:spPr>
          <a:xfrm>
            <a:off x="457200" y="3794760"/>
            <a:ext cx="1645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基础设施层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3794760"/>
            <a:ext cx="6217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Config Manager | Logger | Output Manager | Incremental Tracker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核心技术应用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914400"/>
          </a:xfrm>
          <a:prstGeom prst="rect">
            <a:avLst/>
          </a:prstGeom>
          <a:solidFill>
            <a:srgbClr val="F5FAFA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5156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系统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1371600"/>
            <a:ext cx="3017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文档加载→清洗→分块→编码→向量存储→检索的完整 Pipeline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914400"/>
            <a:ext cx="3931920" cy="914400"/>
          </a:xfrm>
          <a:prstGeom prst="rect">
            <a:avLst/>
          </a:prstGeom>
          <a:solidFill>
            <a:srgbClr val="F5FAFA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972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05156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 Engineering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86400" y="1371600"/>
            <a:ext cx="3017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查询预处理、检索结果格式化输出、重排序评分过滤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2057400"/>
            <a:ext cx="3931920" cy="914400"/>
          </a:xfrm>
          <a:prstGeom prst="rect">
            <a:avLst/>
          </a:prstGeom>
          <a:solidFill>
            <a:srgbClr val="F5FAFA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402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19456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Vibe Coding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88720" y="2514600"/>
            <a:ext cx="3017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 Cursor/Claude Code 辅助编写模块代码、测试用例和配置文件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0" y="2057400"/>
            <a:ext cx="3931920" cy="914400"/>
          </a:xfrm>
          <a:prstGeom prst="rect">
            <a:avLst/>
          </a:prstGeom>
          <a:solidFill>
            <a:srgbClr val="F5FAFA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2402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219456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多模态处理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86400" y="2514600"/>
            <a:ext cx="3017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支持 PDF（文本+OCR）、DOC/DOCX、PPT、Excel、TXT、MD、CAJ 等多种格式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数据处理流程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05840" cy="73152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5" name="Text 3"/>
          <p:cNvSpPr/>
          <p:nvPr/>
        </p:nvSpPr>
        <p:spPr>
          <a:xfrm>
            <a:off x="548640" y="1463040"/>
            <a:ext cx="1005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文件扫描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54480" y="1463040"/>
            <a:ext cx="137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91640" y="1463040"/>
            <a:ext cx="1005840" cy="73152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8" name="Text 6"/>
          <p:cNvSpPr/>
          <p:nvPr/>
        </p:nvSpPr>
        <p:spPr>
          <a:xfrm>
            <a:off x="1691640" y="1463040"/>
            <a:ext cx="1005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类型分类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1463040"/>
            <a:ext cx="137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34640" y="1463040"/>
            <a:ext cx="1005840" cy="73152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1" name="Text 9"/>
          <p:cNvSpPr/>
          <p:nvPr/>
        </p:nvSpPr>
        <p:spPr>
          <a:xfrm>
            <a:off x="2834640" y="1463040"/>
            <a:ext cx="1005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优先级排序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463040"/>
            <a:ext cx="137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77640" y="1463040"/>
            <a:ext cx="1005840" cy="73152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4" name="Text 12"/>
          <p:cNvSpPr/>
          <p:nvPr/>
        </p:nvSpPr>
        <p:spPr>
          <a:xfrm>
            <a:off x="3977640" y="1463040"/>
            <a:ext cx="1005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逐文件处理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1463040"/>
            <a:ext cx="137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20640" y="1463040"/>
            <a:ext cx="1005840" cy="73152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17" name="Text 15"/>
          <p:cNvSpPr/>
          <p:nvPr/>
        </p:nvSpPr>
        <p:spPr>
          <a:xfrm>
            <a:off x="5120640" y="1463040"/>
            <a:ext cx="1005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全局去重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463040"/>
            <a:ext cx="137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1463040"/>
            <a:ext cx="1005840" cy="73152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20" name="Text 18"/>
          <p:cNvSpPr/>
          <p:nvPr/>
        </p:nvSpPr>
        <p:spPr>
          <a:xfrm>
            <a:off x="6263640" y="1463040"/>
            <a:ext cx="1005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批量编码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69480" y="1463040"/>
            <a:ext cx="137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06640" y="1463040"/>
            <a:ext cx="1005840" cy="73152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23" name="Text 21"/>
          <p:cNvSpPr/>
          <p:nvPr/>
        </p:nvSpPr>
        <p:spPr>
          <a:xfrm>
            <a:off x="7406640" y="1463040"/>
            <a:ext cx="1005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向量入库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246888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文档加载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2788920"/>
            <a:ext cx="19202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Unstructured 主解析 → 降级到专用解析器 → 扫描件 PaddleOCR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68880" y="246888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文本清洗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2788920"/>
            <a:ext cx="19202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结构清洗 → 编码修复（ftfy）→ 繁简转换（OpenCC）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80560" y="246888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智能分块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2788920"/>
            <a:ext cx="19202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chunk_size=500, overlap=50, 中文优化分隔符优先级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92240" y="246888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多级去重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2788920"/>
            <a:ext cx="19202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MD5 精确去重 → SimHash 近似去重（海明距离=3）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2743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核心模块实现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0"/>
            <a:ext cx="1828800" cy="54864"/>
          </a:xfrm>
          <a:prstGeom prst="rect">
            <a:avLst/>
          </a:prstGeom>
          <a:solidFill>
            <a:srgbClr val="02C39A"/>
          </a:solid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项目结构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1A2F38"/>
          </a:solidFill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doc_rag_v2/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src/                          # 源代码目录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loaders/                  # 文档加载器模块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cleaners/                 # 文本清洗模块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chunkers/                # 文本分块模块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dedupers/                # 去重模块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encoders/                # 编码模块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vector_stores/           # 向量数据库模块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retrievers/               # 检索模块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evaluators/              # 评估模块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utils/                    # 工具模块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configs/                  # 配置管理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pipeline.py              # Pipeline 执行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└── main.py                   # CLI 入口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tests/                        # 测试目录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docs/                         # 模块文档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config.yaml                   # 用户配置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└── chroma_db/                    # 向量数据库持久化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Pipeline 管理器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设计亮点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28600" cy="22860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6" name="Text 4"/>
          <p:cNvSpPr/>
          <p:nvPr/>
        </p:nvSpPr>
        <p:spPr>
          <a:xfrm>
            <a:off x="822960" y="128016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模块懒加载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只有在实际使用时才初始化模块，降低启动开销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28600" cy="22860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9" name="Text 7"/>
          <p:cNvSpPr/>
          <p:nvPr/>
        </p:nvSpPr>
        <p:spPr>
          <a:xfrm>
            <a:off x="822960" y="196596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错误隔离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单个文件处理失败不影响其他文件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228600" cy="22860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2" name="Text 10"/>
          <p:cNvSpPr/>
          <p:nvPr/>
        </p:nvSpPr>
        <p:spPr>
          <a:xfrm>
            <a:off x="822960" y="265176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阶段追踪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92608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PipelineStageTracker 记录全局阶段状态，支持断点续传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228600" cy="22860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5" name="Text 13"/>
          <p:cNvSpPr/>
          <p:nvPr/>
        </p:nvSpPr>
        <p:spPr>
          <a:xfrm>
            <a:off x="822960" y="333756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增量更新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61188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IncrementalTracker 通过文件哈希和分块哈希双重检测变化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构建流程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1280160"/>
            <a:ext cx="393192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扫描文件 → FileUtils.scan_files()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创建任务计划（含增量检测）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逐文件处理（加载→清洗→分块）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全局去重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编码并存储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20" name="Text 18"/>
          <p:cNvSpPr/>
          <p:nvPr/>
        </p:nvSpPr>
        <p:spPr>
          <a:xfrm>
            <a:off x="457200" y="3977640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1,533/1,537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文件处理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14600" y="3977640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99.7%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514600" y="4389120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处理完成率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3977640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16,710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0" y="4389120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向量片段数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9400" y="3977640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768维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29400" y="4389120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向量维度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向量检索器（含重排序）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828800" cy="64008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5" name="Text 3"/>
          <p:cNvSpPr/>
          <p:nvPr/>
        </p:nvSpPr>
        <p:spPr>
          <a:xfrm>
            <a:off x="731520" y="109728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查询编码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097280"/>
            <a:ext cx="274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34640" y="1097280"/>
            <a:ext cx="1828800" cy="64008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8" name="Text 6"/>
          <p:cNvSpPr/>
          <p:nvPr/>
        </p:nvSpPr>
        <p:spPr>
          <a:xfrm>
            <a:off x="2834640" y="109728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向量搜索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097280"/>
            <a:ext cx="274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37760" y="1097280"/>
            <a:ext cx="1828800" cy="6400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1" name="Text 9"/>
          <p:cNvSpPr/>
          <p:nvPr/>
        </p:nvSpPr>
        <p:spPr>
          <a:xfrm>
            <a:off x="4937760" y="109728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可选重排序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1097280"/>
            <a:ext cx="274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40880" y="1097280"/>
            <a:ext cx="1828800" cy="64008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4" name="Text 12"/>
          <p:cNvSpPr/>
          <p:nvPr/>
        </p:nvSpPr>
        <p:spPr>
          <a:xfrm>
            <a:off x="7040880" y="109728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格式化输出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检索性能（Intel i7 + NVIDIA GPU）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2286000" cy="41148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7" name="Text 15"/>
          <p:cNvSpPr/>
          <p:nvPr/>
        </p:nvSpPr>
        <p:spPr>
          <a:xfrm>
            <a:off x="548640" y="237744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场景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2377440"/>
            <a:ext cx="1828800" cy="41148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9" name="Text 17"/>
          <p:cNvSpPr/>
          <p:nvPr/>
        </p:nvSpPr>
        <p:spPr>
          <a:xfrm>
            <a:off x="2834640" y="237744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检索耗时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377440"/>
            <a:ext cx="1828800" cy="41148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1" name="Text 19"/>
          <p:cNvSpPr/>
          <p:nvPr/>
        </p:nvSpPr>
        <p:spPr>
          <a:xfrm>
            <a:off x="4663440" y="237744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重排序耗时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2377440"/>
            <a:ext cx="1828800" cy="41148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3" name="Text 21"/>
          <p:cNvSpPr/>
          <p:nvPr/>
        </p:nvSpPr>
        <p:spPr>
          <a:xfrm>
            <a:off x="6492240" y="237744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总耗时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788920"/>
            <a:ext cx="2286000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548640" y="278892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Top-3 检索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2788920"/>
            <a:ext cx="1828800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2834640" y="278892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0.15s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2788920"/>
            <a:ext cx="1828800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4663440" y="278892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2788920"/>
            <a:ext cx="1828800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6492240" y="278892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0.15s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200400"/>
            <a:ext cx="2286000" cy="41148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33" name="Text 31"/>
          <p:cNvSpPr/>
          <p:nvPr/>
        </p:nvSpPr>
        <p:spPr>
          <a:xfrm>
            <a:off x="548640" y="320040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Top-5 检索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0" y="3200400"/>
            <a:ext cx="1828800" cy="41148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35" name="Text 33"/>
          <p:cNvSpPr/>
          <p:nvPr/>
        </p:nvSpPr>
        <p:spPr>
          <a:xfrm>
            <a:off x="2834640" y="320040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0.18s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3200400"/>
            <a:ext cx="1828800" cy="41148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37" name="Text 35"/>
          <p:cNvSpPr/>
          <p:nvPr/>
        </p:nvSpPr>
        <p:spPr>
          <a:xfrm>
            <a:off x="4663440" y="320040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0" y="3200400"/>
            <a:ext cx="1828800" cy="41148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39" name="Text 37"/>
          <p:cNvSpPr/>
          <p:nvPr/>
        </p:nvSpPr>
        <p:spPr>
          <a:xfrm>
            <a:off x="6492240" y="320040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0.18s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611880"/>
            <a:ext cx="2286000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548640" y="361188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Top-5 + 重排序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0" y="3611880"/>
            <a:ext cx="1828800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3" name="Text 41"/>
          <p:cNvSpPr/>
          <p:nvPr/>
        </p:nvSpPr>
        <p:spPr>
          <a:xfrm>
            <a:off x="2834640" y="361188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0.18s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0" y="3611880"/>
            <a:ext cx="1828800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5" name="Text 43"/>
          <p:cNvSpPr/>
          <p:nvPr/>
        </p:nvSpPr>
        <p:spPr>
          <a:xfrm>
            <a:off x="4663440" y="361188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0.45s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0" y="3611880"/>
            <a:ext cx="1828800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7" name="Text 45"/>
          <p:cNvSpPr/>
          <p:nvPr/>
        </p:nvSpPr>
        <p:spPr>
          <a:xfrm>
            <a:off x="6492240" y="361188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0.63s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4023360"/>
            <a:ext cx="2286000" cy="41148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49" name="Text 47"/>
          <p:cNvSpPr/>
          <p:nvPr/>
        </p:nvSpPr>
        <p:spPr>
          <a:xfrm>
            <a:off x="548640" y="402336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Top-10 + 重排序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43200" y="4023360"/>
            <a:ext cx="1828800" cy="41148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51" name="Text 49"/>
          <p:cNvSpPr/>
          <p:nvPr/>
        </p:nvSpPr>
        <p:spPr>
          <a:xfrm>
            <a:off x="2834640" y="402336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0.22s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0" y="4023360"/>
            <a:ext cx="1828800" cy="41148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53" name="Text 51"/>
          <p:cNvSpPr/>
          <p:nvPr/>
        </p:nvSpPr>
        <p:spPr>
          <a:xfrm>
            <a:off x="4663440" y="402336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0.85s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00800" y="4023360"/>
            <a:ext cx="1828800" cy="41148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55" name="Text 53"/>
          <p:cNvSpPr/>
          <p:nvPr/>
        </p:nvSpPr>
        <p:spPr>
          <a:xfrm>
            <a:off x="6492240" y="402336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1.07s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2743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TDD-for-AI 实践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0"/>
            <a:ext cx="1828800" cy="54864"/>
          </a:xfrm>
          <a:prstGeom prst="rect">
            <a:avLst/>
          </a:prstGeom>
          <a:solidFill>
            <a:srgbClr val="02C39A"/>
          </a:solid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TDD-for-AI 实践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743200" cy="1371600"/>
          </a:xfrm>
          <a:prstGeom prst="rect">
            <a:avLst/>
          </a:prstGeom>
          <a:solidFill>
            <a:srgbClr val="F5FAFA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68880" y="1005840"/>
            <a:ext cx="548640" cy="54864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6" name="Text 4"/>
          <p:cNvSpPr/>
          <p:nvPr/>
        </p:nvSpPr>
        <p:spPr>
          <a:xfrm>
            <a:off x="2468880" y="10058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F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38+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单元测试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test_load.py / test_clean.py / test_chunk.py / test_encoder.py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914400"/>
            <a:ext cx="2743200" cy="1371600"/>
          </a:xfrm>
          <a:prstGeom prst="rect">
            <a:avLst/>
          </a:prstGeom>
          <a:solidFill>
            <a:srgbClr val="F5FAFA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40680" y="1005840"/>
            <a:ext cx="548640" cy="54864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1" name="Text 9"/>
          <p:cNvSpPr/>
          <p:nvPr/>
        </p:nvSpPr>
        <p:spPr>
          <a:xfrm>
            <a:off x="5440680" y="10058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F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10972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集成测试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155448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test_unstructured.py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914400"/>
            <a:ext cx="2743200" cy="1371600"/>
          </a:xfrm>
          <a:prstGeom prst="rect">
            <a:avLst/>
          </a:prstGeom>
          <a:solidFill>
            <a:srgbClr val="F5FAFA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005840"/>
            <a:ext cx="548640" cy="54864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6" name="Text 14"/>
          <p:cNvSpPr/>
          <p:nvPr/>
        </p:nvSpPr>
        <p:spPr>
          <a:xfrm>
            <a:off x="8412480" y="10058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F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30+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7960" y="10972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检索测试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155448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test_rag.py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测试覆盖率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01752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Loader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463040" y="3017520"/>
            <a:ext cx="5486400" cy="3200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Shape 20"/>
          <p:cNvSpPr/>
          <p:nvPr/>
        </p:nvSpPr>
        <p:spPr>
          <a:xfrm>
            <a:off x="1463040" y="3017520"/>
            <a:ext cx="4663440" cy="32004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3" name="Text 21"/>
          <p:cNvSpPr/>
          <p:nvPr/>
        </p:nvSpPr>
        <p:spPr>
          <a:xfrm>
            <a:off x="7040880" y="3017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85%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Cleaner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63040" y="3474720"/>
            <a:ext cx="5486400" cy="3200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Shape 24"/>
          <p:cNvSpPr/>
          <p:nvPr/>
        </p:nvSpPr>
        <p:spPr>
          <a:xfrm>
            <a:off x="1463040" y="3474720"/>
            <a:ext cx="4937760" cy="32004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7" name="Text 25"/>
          <p:cNvSpPr/>
          <p:nvPr/>
        </p:nvSpPr>
        <p:spPr>
          <a:xfrm>
            <a:off x="7040880" y="34747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93192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Chunker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463040" y="3931920"/>
            <a:ext cx="5486400" cy="3200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Shape 28"/>
          <p:cNvSpPr/>
          <p:nvPr/>
        </p:nvSpPr>
        <p:spPr>
          <a:xfrm>
            <a:off x="1463040" y="3931920"/>
            <a:ext cx="4882896" cy="32004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1" name="Text 29"/>
          <p:cNvSpPr/>
          <p:nvPr/>
        </p:nvSpPr>
        <p:spPr>
          <a:xfrm>
            <a:off x="7040880" y="39319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89%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38912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Encoder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463040" y="4389120"/>
            <a:ext cx="5486400" cy="3200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Shape 32"/>
          <p:cNvSpPr/>
          <p:nvPr/>
        </p:nvSpPr>
        <p:spPr>
          <a:xfrm>
            <a:off x="1463040" y="4389120"/>
            <a:ext cx="4553712" cy="32004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5" name="Text 33"/>
          <p:cNvSpPr/>
          <p:nvPr/>
        </p:nvSpPr>
        <p:spPr>
          <a:xfrm>
            <a:off x="7040880" y="43891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83%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32320" y="466344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总计：78+ 测试用例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2743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测试结果与评估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0"/>
            <a:ext cx="1828800" cy="54864"/>
          </a:xfrm>
          <a:prstGeom prst="rect">
            <a:avLst/>
          </a:prstGeom>
          <a:solidFill>
            <a:srgbClr val="02C39A"/>
          </a:solid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检索质量评估-</a:t>
            </a:r>
            <a:r>
              <a:rPr lang="zh-CN" alt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-120"/>
              </a:rPr>
              <a:t>对比大模型</a:t>
            </a:r>
            <a:endParaRPr lang="zh-CN" altLang="en-US" sz="2800" b="1" dirty="0">
              <a:solidFill>
                <a:srgbClr val="1E293B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-120"/>
            </a:endParaRPr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6555" y="2411730"/>
            <a:ext cx="4500245" cy="2604135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555" y="758825"/>
            <a:ext cx="4513580" cy="1560830"/>
          </a:xfrm>
          <a:prstGeom prst="rect">
            <a:avLst/>
          </a:prstGeom>
        </p:spPr>
      </p:pic>
      <p:sp>
        <p:nvSpPr>
          <p:cNvPr id="87" name="文本框 86"/>
          <p:cNvSpPr txBox="1"/>
          <p:nvPr/>
        </p:nvSpPr>
        <p:spPr>
          <a:xfrm>
            <a:off x="599440" y="1127760"/>
            <a:ext cx="301752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题目类型</a:t>
            </a:r>
            <a:endParaRPr lang="zh-CN" altLang="en-US"/>
          </a:p>
          <a:p>
            <a:r>
              <a:rPr lang="zh-CN" altLang="en-US"/>
              <a:t>─ 知识密集型(9题)      </a:t>
            </a:r>
            <a:endParaRPr lang="zh-CN" altLang="en-US"/>
          </a:p>
          <a:p>
            <a:r>
              <a:rPr lang="zh-CN" altLang="en-US"/>
              <a:t>─ 通用常识型(6题)       </a:t>
            </a:r>
            <a:endParaRPr lang="zh-CN" altLang="en-US"/>
          </a:p>
          <a:p>
            <a:r>
              <a:rPr lang="zh-CN" altLang="en-US"/>
              <a:t>─ 时间敏感型(5题)       </a:t>
            </a:r>
            <a:endParaRPr lang="zh-CN" altLang="en-US"/>
          </a:p>
          <a:p>
            <a:r>
              <a:rPr lang="zh-CN" altLang="en-US"/>
              <a:t>─ 特定领域型(6题)       </a:t>
            </a:r>
            <a:endParaRPr lang="zh-CN" altLang="en-US"/>
          </a:p>
          <a:p>
            <a:r>
              <a:rPr lang="zh-CN" altLang="en-US"/>
              <a:t>─ 推理规划型(4题)       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检索质量评估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92278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总体指标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89%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Top-5 平均命中率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37160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78%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68880" y="17830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Top-3 平均命中率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平均检索相似度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21031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+12%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68880" y="25146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重排序精度提升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15" name="Text 13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分维度评估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准确性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0" y="1417320"/>
            <a:ext cx="2560320" cy="20116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Shape 16"/>
          <p:cNvSpPr/>
          <p:nvPr/>
        </p:nvSpPr>
        <p:spPr>
          <a:xfrm>
            <a:off x="5760720" y="1417320"/>
            <a:ext cx="2176272" cy="20116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9" name="Text 17"/>
          <p:cNvSpPr/>
          <p:nvPr/>
        </p:nvSpPr>
        <p:spPr>
          <a:xfrm>
            <a:off x="8412480" y="1399032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85%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1709928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完整性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0" y="1709928"/>
            <a:ext cx="2560320" cy="20116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Shape 20"/>
          <p:cNvSpPr/>
          <p:nvPr/>
        </p:nvSpPr>
        <p:spPr>
          <a:xfrm>
            <a:off x="5760720" y="1709928"/>
            <a:ext cx="1997050" cy="20116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3" name="Text 21"/>
          <p:cNvSpPr/>
          <p:nvPr/>
        </p:nvSpPr>
        <p:spPr>
          <a:xfrm>
            <a:off x="8412480" y="1691640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78%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2002536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相关性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2002536"/>
            <a:ext cx="2560320" cy="20116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Shape 24"/>
          <p:cNvSpPr/>
          <p:nvPr/>
        </p:nvSpPr>
        <p:spPr>
          <a:xfrm>
            <a:off x="5760720" y="2002536"/>
            <a:ext cx="2099462" cy="20116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7" name="Text 25"/>
          <p:cNvSpPr/>
          <p:nvPr/>
        </p:nvSpPr>
        <p:spPr>
          <a:xfrm>
            <a:off x="8412480" y="1984248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82%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229514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时效性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60720" y="2295144"/>
            <a:ext cx="2560320" cy="20116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Shape 28"/>
          <p:cNvSpPr/>
          <p:nvPr/>
        </p:nvSpPr>
        <p:spPr>
          <a:xfrm>
            <a:off x="5760720" y="2295144"/>
            <a:ext cx="1536192" cy="20116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1" name="Text 29"/>
          <p:cNvSpPr/>
          <p:nvPr/>
        </p:nvSpPr>
        <p:spPr>
          <a:xfrm>
            <a:off x="8412480" y="2276856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2587752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实用性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60720" y="2587752"/>
            <a:ext cx="2560320" cy="20116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Shape 32"/>
          <p:cNvSpPr/>
          <p:nvPr/>
        </p:nvSpPr>
        <p:spPr>
          <a:xfrm>
            <a:off x="5760720" y="2587752"/>
            <a:ext cx="1920240" cy="20116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5" name="Text 33"/>
          <p:cNvSpPr/>
          <p:nvPr/>
        </p:nvSpPr>
        <p:spPr>
          <a:xfrm>
            <a:off x="8412480" y="2569464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75%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分类检索效果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3246120"/>
            <a:ext cx="2103120" cy="292608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8" name="Text 36"/>
          <p:cNvSpPr/>
          <p:nvPr/>
        </p:nvSpPr>
        <p:spPr>
          <a:xfrm>
            <a:off x="548640" y="3246120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问题类别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60320" y="3246120"/>
            <a:ext cx="2011680" cy="292608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0" name="Text 38"/>
          <p:cNvSpPr/>
          <p:nvPr/>
        </p:nvSpPr>
        <p:spPr>
          <a:xfrm>
            <a:off x="2651760" y="3246120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Top-3 命中率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3246120"/>
            <a:ext cx="2011680" cy="292608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2" name="Text 40"/>
          <p:cNvSpPr/>
          <p:nvPr/>
        </p:nvSpPr>
        <p:spPr>
          <a:xfrm>
            <a:off x="4663440" y="3246120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Top-5 命中率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583680" y="3246120"/>
            <a:ext cx="2103120" cy="292608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4" name="Text 42"/>
          <p:cNvSpPr/>
          <p:nvPr/>
        </p:nvSpPr>
        <p:spPr>
          <a:xfrm>
            <a:off x="6675120" y="3246120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平均相似度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3538728"/>
            <a:ext cx="21031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6" name="Text 44"/>
          <p:cNvSpPr/>
          <p:nvPr/>
        </p:nvSpPr>
        <p:spPr>
          <a:xfrm>
            <a:off x="548640" y="3538728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考试结构与规则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560320" y="3538728"/>
            <a:ext cx="201168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2651760" y="3538728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85%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3538728"/>
            <a:ext cx="201168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0" name="Text 48"/>
          <p:cNvSpPr/>
          <p:nvPr/>
        </p:nvSpPr>
        <p:spPr>
          <a:xfrm>
            <a:off x="4663440" y="3538728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92%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583680" y="3538728"/>
            <a:ext cx="21031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2" name="Text 50"/>
          <p:cNvSpPr/>
          <p:nvPr/>
        </p:nvSpPr>
        <p:spPr>
          <a:xfrm>
            <a:off x="6675120" y="3538728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0.78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3831336"/>
            <a:ext cx="2103120" cy="292608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54" name="Text 52"/>
          <p:cNvSpPr/>
          <p:nvPr/>
        </p:nvSpPr>
        <p:spPr>
          <a:xfrm>
            <a:off x="548640" y="3831336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教材与学习内容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560320" y="3831336"/>
            <a:ext cx="2011680" cy="292608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56" name="Text 54"/>
          <p:cNvSpPr/>
          <p:nvPr/>
        </p:nvSpPr>
        <p:spPr>
          <a:xfrm>
            <a:off x="2651760" y="3831336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78%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0" y="3831336"/>
            <a:ext cx="2011680" cy="292608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58" name="Text 56"/>
          <p:cNvSpPr/>
          <p:nvPr/>
        </p:nvSpPr>
        <p:spPr>
          <a:xfrm>
            <a:off x="4663440" y="3831336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89%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583680" y="3831336"/>
            <a:ext cx="2103120" cy="292608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60" name="Text 58"/>
          <p:cNvSpPr/>
          <p:nvPr/>
        </p:nvSpPr>
        <p:spPr>
          <a:xfrm>
            <a:off x="6675120" y="3831336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0.72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4123944"/>
            <a:ext cx="21031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2" name="Text 60"/>
          <p:cNvSpPr/>
          <p:nvPr/>
        </p:nvSpPr>
        <p:spPr>
          <a:xfrm>
            <a:off x="548640" y="4123944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题型与解题技巧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560320" y="4123944"/>
            <a:ext cx="201168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2651760" y="4123944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82%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0" y="4123944"/>
            <a:ext cx="201168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6" name="Text 64"/>
          <p:cNvSpPr/>
          <p:nvPr/>
        </p:nvSpPr>
        <p:spPr>
          <a:xfrm>
            <a:off x="4663440" y="4123944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90%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583680" y="4123944"/>
            <a:ext cx="21031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8" name="Text 66"/>
          <p:cNvSpPr/>
          <p:nvPr/>
        </p:nvSpPr>
        <p:spPr>
          <a:xfrm>
            <a:off x="6675120" y="4123944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0.75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57200" y="4416552"/>
            <a:ext cx="2103120" cy="292608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70" name="Text 68"/>
          <p:cNvSpPr/>
          <p:nvPr/>
        </p:nvSpPr>
        <p:spPr>
          <a:xfrm>
            <a:off x="548640" y="4416552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通用常识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560320" y="4416552"/>
            <a:ext cx="2011680" cy="292608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72" name="Text 70"/>
          <p:cNvSpPr/>
          <p:nvPr/>
        </p:nvSpPr>
        <p:spPr>
          <a:xfrm>
            <a:off x="2651760" y="4416552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95%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0" y="4416552"/>
            <a:ext cx="2011680" cy="292608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74" name="Text 72"/>
          <p:cNvSpPr/>
          <p:nvPr/>
        </p:nvSpPr>
        <p:spPr>
          <a:xfrm>
            <a:off x="4663440" y="4416552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98%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583680" y="4416552"/>
            <a:ext cx="2103120" cy="292608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76" name="Text 74"/>
          <p:cNvSpPr/>
          <p:nvPr/>
        </p:nvSpPr>
        <p:spPr>
          <a:xfrm>
            <a:off x="6675120" y="4416552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0.85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57200" y="4709160"/>
            <a:ext cx="21031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8" name="Text 76"/>
          <p:cNvSpPr/>
          <p:nvPr/>
        </p:nvSpPr>
        <p:spPr>
          <a:xfrm>
            <a:off x="548640" y="4709160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词汇与语法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560320" y="4709160"/>
            <a:ext cx="201168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0" name="Text 78"/>
          <p:cNvSpPr/>
          <p:nvPr/>
        </p:nvSpPr>
        <p:spPr>
          <a:xfrm>
            <a:off x="2651760" y="4709160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572000" y="4709160"/>
            <a:ext cx="201168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2" name="Text 80"/>
          <p:cNvSpPr/>
          <p:nvPr/>
        </p:nvSpPr>
        <p:spPr>
          <a:xfrm>
            <a:off x="4663440" y="4709160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88%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583680" y="4709160"/>
            <a:ext cx="21031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4" name="Text 82"/>
          <p:cNvSpPr/>
          <p:nvPr/>
        </p:nvSpPr>
        <p:spPr>
          <a:xfrm>
            <a:off x="6675120" y="4709160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检索质量评估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92278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总体指标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89%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Top-5 平均命中率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37160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78%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68880" y="17830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Top-3 平均命中率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平均检索相似度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21031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+12%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68880" y="25146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重排序精度提升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15" name="Text 13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分维度评估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准确性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0" y="1417320"/>
            <a:ext cx="2560320" cy="20116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Shape 16"/>
          <p:cNvSpPr/>
          <p:nvPr/>
        </p:nvSpPr>
        <p:spPr>
          <a:xfrm>
            <a:off x="5760720" y="1417320"/>
            <a:ext cx="2176272" cy="20116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9" name="Text 17"/>
          <p:cNvSpPr/>
          <p:nvPr/>
        </p:nvSpPr>
        <p:spPr>
          <a:xfrm>
            <a:off x="8412480" y="1399032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85%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1709928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完整性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0" y="1709928"/>
            <a:ext cx="2560320" cy="20116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Shape 20"/>
          <p:cNvSpPr/>
          <p:nvPr/>
        </p:nvSpPr>
        <p:spPr>
          <a:xfrm>
            <a:off x="5760720" y="1709928"/>
            <a:ext cx="1997050" cy="20116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3" name="Text 21"/>
          <p:cNvSpPr/>
          <p:nvPr/>
        </p:nvSpPr>
        <p:spPr>
          <a:xfrm>
            <a:off x="8412480" y="1691640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78%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2002536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相关性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2002536"/>
            <a:ext cx="2560320" cy="20116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Shape 24"/>
          <p:cNvSpPr/>
          <p:nvPr/>
        </p:nvSpPr>
        <p:spPr>
          <a:xfrm>
            <a:off x="5760720" y="2002536"/>
            <a:ext cx="2099462" cy="20116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7" name="Text 25"/>
          <p:cNvSpPr/>
          <p:nvPr/>
        </p:nvSpPr>
        <p:spPr>
          <a:xfrm>
            <a:off x="8412480" y="1984248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82%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229514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时效性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60720" y="2295144"/>
            <a:ext cx="2560320" cy="20116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Shape 28"/>
          <p:cNvSpPr/>
          <p:nvPr/>
        </p:nvSpPr>
        <p:spPr>
          <a:xfrm>
            <a:off x="5760720" y="2295144"/>
            <a:ext cx="1536192" cy="20116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1" name="Text 29"/>
          <p:cNvSpPr/>
          <p:nvPr/>
        </p:nvSpPr>
        <p:spPr>
          <a:xfrm>
            <a:off x="8412480" y="2276856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2587752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实用性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60720" y="2587752"/>
            <a:ext cx="2560320" cy="20116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Shape 32"/>
          <p:cNvSpPr/>
          <p:nvPr/>
        </p:nvSpPr>
        <p:spPr>
          <a:xfrm>
            <a:off x="5760720" y="2587752"/>
            <a:ext cx="1920240" cy="20116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5" name="Text 33"/>
          <p:cNvSpPr/>
          <p:nvPr/>
        </p:nvSpPr>
        <p:spPr>
          <a:xfrm>
            <a:off x="8412480" y="2569464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75%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分类检索效果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3246120"/>
            <a:ext cx="2103120" cy="292608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8" name="Text 36"/>
          <p:cNvSpPr/>
          <p:nvPr/>
        </p:nvSpPr>
        <p:spPr>
          <a:xfrm>
            <a:off x="548640" y="3246120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问题类别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60320" y="3246120"/>
            <a:ext cx="2011680" cy="292608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0" name="Text 38"/>
          <p:cNvSpPr/>
          <p:nvPr/>
        </p:nvSpPr>
        <p:spPr>
          <a:xfrm>
            <a:off x="2651760" y="3246120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Top-3 命中率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3246120"/>
            <a:ext cx="2011680" cy="292608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2" name="Text 40"/>
          <p:cNvSpPr/>
          <p:nvPr/>
        </p:nvSpPr>
        <p:spPr>
          <a:xfrm>
            <a:off x="4663440" y="3246120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Top-5 命中率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583680" y="3246120"/>
            <a:ext cx="2103120" cy="292608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4" name="Text 42"/>
          <p:cNvSpPr/>
          <p:nvPr/>
        </p:nvSpPr>
        <p:spPr>
          <a:xfrm>
            <a:off x="6675120" y="3246120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平均相似度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3538728"/>
            <a:ext cx="21031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6" name="Text 44"/>
          <p:cNvSpPr/>
          <p:nvPr/>
        </p:nvSpPr>
        <p:spPr>
          <a:xfrm>
            <a:off x="548640" y="3538728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考试结构与规则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560320" y="3538728"/>
            <a:ext cx="201168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2651760" y="3538728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85%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3538728"/>
            <a:ext cx="201168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0" name="Text 48"/>
          <p:cNvSpPr/>
          <p:nvPr/>
        </p:nvSpPr>
        <p:spPr>
          <a:xfrm>
            <a:off x="4663440" y="3538728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92%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583680" y="3538728"/>
            <a:ext cx="21031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2" name="Text 50"/>
          <p:cNvSpPr/>
          <p:nvPr/>
        </p:nvSpPr>
        <p:spPr>
          <a:xfrm>
            <a:off x="6675120" y="3538728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0.78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3831336"/>
            <a:ext cx="2103120" cy="292608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54" name="Text 52"/>
          <p:cNvSpPr/>
          <p:nvPr/>
        </p:nvSpPr>
        <p:spPr>
          <a:xfrm>
            <a:off x="548640" y="3831336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教材与学习内容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560320" y="3831336"/>
            <a:ext cx="2011680" cy="292608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56" name="Text 54"/>
          <p:cNvSpPr/>
          <p:nvPr/>
        </p:nvSpPr>
        <p:spPr>
          <a:xfrm>
            <a:off x="2651760" y="3831336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78%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0" y="3831336"/>
            <a:ext cx="2011680" cy="292608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58" name="Text 56"/>
          <p:cNvSpPr/>
          <p:nvPr/>
        </p:nvSpPr>
        <p:spPr>
          <a:xfrm>
            <a:off x="4663440" y="3831336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89%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583680" y="3831336"/>
            <a:ext cx="2103120" cy="292608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60" name="Text 58"/>
          <p:cNvSpPr/>
          <p:nvPr/>
        </p:nvSpPr>
        <p:spPr>
          <a:xfrm>
            <a:off x="6675120" y="3831336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0.72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4123944"/>
            <a:ext cx="21031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2" name="Text 60"/>
          <p:cNvSpPr/>
          <p:nvPr/>
        </p:nvSpPr>
        <p:spPr>
          <a:xfrm>
            <a:off x="548640" y="4123944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题型与解题技巧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560320" y="4123944"/>
            <a:ext cx="201168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2651760" y="4123944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82%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0" y="4123944"/>
            <a:ext cx="201168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6" name="Text 64"/>
          <p:cNvSpPr/>
          <p:nvPr/>
        </p:nvSpPr>
        <p:spPr>
          <a:xfrm>
            <a:off x="4663440" y="4123944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90%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583680" y="4123944"/>
            <a:ext cx="21031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8" name="Text 66"/>
          <p:cNvSpPr/>
          <p:nvPr/>
        </p:nvSpPr>
        <p:spPr>
          <a:xfrm>
            <a:off x="6675120" y="4123944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0.75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57200" y="4416552"/>
            <a:ext cx="2103120" cy="292608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70" name="Text 68"/>
          <p:cNvSpPr/>
          <p:nvPr/>
        </p:nvSpPr>
        <p:spPr>
          <a:xfrm>
            <a:off x="548640" y="4416552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通用常识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560320" y="4416552"/>
            <a:ext cx="2011680" cy="292608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72" name="Text 70"/>
          <p:cNvSpPr/>
          <p:nvPr/>
        </p:nvSpPr>
        <p:spPr>
          <a:xfrm>
            <a:off x="2651760" y="4416552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95%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0" y="4416552"/>
            <a:ext cx="2011680" cy="292608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74" name="Text 72"/>
          <p:cNvSpPr/>
          <p:nvPr/>
        </p:nvSpPr>
        <p:spPr>
          <a:xfrm>
            <a:off x="4663440" y="4416552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98%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583680" y="4416552"/>
            <a:ext cx="2103120" cy="292608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76" name="Text 74"/>
          <p:cNvSpPr/>
          <p:nvPr/>
        </p:nvSpPr>
        <p:spPr>
          <a:xfrm>
            <a:off x="6675120" y="4416552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0.85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57200" y="4709160"/>
            <a:ext cx="21031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8" name="Text 76"/>
          <p:cNvSpPr/>
          <p:nvPr/>
        </p:nvSpPr>
        <p:spPr>
          <a:xfrm>
            <a:off x="548640" y="4709160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词汇与语法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560320" y="4709160"/>
            <a:ext cx="201168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0" name="Text 78"/>
          <p:cNvSpPr/>
          <p:nvPr/>
        </p:nvSpPr>
        <p:spPr>
          <a:xfrm>
            <a:off x="2651760" y="4709160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572000" y="4709160"/>
            <a:ext cx="201168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2" name="Text 80"/>
          <p:cNvSpPr/>
          <p:nvPr/>
        </p:nvSpPr>
        <p:spPr>
          <a:xfrm>
            <a:off x="4663440" y="4709160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88%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583680" y="4709160"/>
            <a:ext cx="21031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4" name="Text 82"/>
          <p:cNvSpPr/>
          <p:nvPr/>
        </p:nvSpPr>
        <p:spPr>
          <a:xfrm>
            <a:off x="6675120" y="4709160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增量更新性能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增量更新 vs 全量构建性能对比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286000" cy="4572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6" name="Text 4"/>
          <p:cNvSpPr/>
          <p:nvPr/>
        </p:nvSpPr>
        <p:spPr>
          <a:xfrm>
            <a:off x="548640" y="137160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场景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1828800" cy="4572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8" name="Text 6"/>
          <p:cNvSpPr/>
          <p:nvPr/>
        </p:nvSpPr>
        <p:spPr>
          <a:xfrm>
            <a:off x="2834640" y="1371600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全量构建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1828800" cy="4572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0" name="Text 8"/>
          <p:cNvSpPr/>
          <p:nvPr/>
        </p:nvSpPr>
        <p:spPr>
          <a:xfrm>
            <a:off x="4663440" y="1371600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增量更新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2286000" cy="4572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2" name="Text 10"/>
          <p:cNvSpPr/>
          <p:nvPr/>
        </p:nvSpPr>
        <p:spPr>
          <a:xfrm>
            <a:off x="6492240" y="137160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性能提升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548640" y="182880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新增 10 个文件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1828800"/>
            <a:ext cx="182880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2834640" y="1828800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~6 小时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828800"/>
            <a:ext cx="182880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4663440" y="1828800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~3 分钟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1828800"/>
            <a:ext cx="228600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Text 18"/>
          <p:cNvSpPr/>
          <p:nvPr/>
        </p:nvSpPr>
        <p:spPr>
          <a:xfrm>
            <a:off x="6492240" y="182880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~120x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2286000" cy="45720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22" name="Text 20"/>
          <p:cNvSpPr/>
          <p:nvPr/>
        </p:nvSpPr>
        <p:spPr>
          <a:xfrm>
            <a:off x="548640" y="228600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修改 5 个文件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0" y="2286000"/>
            <a:ext cx="1828800" cy="45720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24" name="Text 22"/>
          <p:cNvSpPr/>
          <p:nvPr/>
        </p:nvSpPr>
        <p:spPr>
          <a:xfrm>
            <a:off x="2834640" y="2286000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~6 小时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286000"/>
            <a:ext cx="1828800" cy="45720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26" name="Text 24"/>
          <p:cNvSpPr/>
          <p:nvPr/>
        </p:nvSpPr>
        <p:spPr>
          <a:xfrm>
            <a:off x="4663440" y="2286000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~5 分钟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2286000"/>
            <a:ext cx="2286000" cy="45720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28" name="Text 26"/>
          <p:cNvSpPr/>
          <p:nvPr/>
        </p:nvSpPr>
        <p:spPr>
          <a:xfrm>
            <a:off x="6492240" y="228600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~72x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743200"/>
            <a:ext cx="228600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Text 28"/>
          <p:cNvSpPr/>
          <p:nvPr/>
        </p:nvSpPr>
        <p:spPr>
          <a:xfrm>
            <a:off x="548640" y="274320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新增 50 个文件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0" y="2743200"/>
            <a:ext cx="182880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2834640" y="2743200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~6 小时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2743200"/>
            <a:ext cx="182880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4663440" y="2743200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~15 分钟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2743200"/>
            <a:ext cx="228600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6492240" y="274320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~24x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3080385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核心机制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" y="3429000"/>
            <a:ext cx="1965960" cy="128016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39" name="Shape 37"/>
          <p:cNvSpPr/>
          <p:nvPr/>
        </p:nvSpPr>
        <p:spPr>
          <a:xfrm>
            <a:off x="457200" y="3429000"/>
            <a:ext cx="1965960" cy="54864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40" name="Text 38"/>
          <p:cNvSpPr/>
          <p:nvPr/>
        </p:nvSpPr>
        <p:spPr>
          <a:xfrm>
            <a:off x="548640" y="3566160"/>
            <a:ext cx="1783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文件级别检测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3886200"/>
            <a:ext cx="1783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通过文件哈希（MD5）和时间戳检测变化文件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60320" y="3429000"/>
            <a:ext cx="1965960" cy="128016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43" name="Shape 41"/>
          <p:cNvSpPr/>
          <p:nvPr/>
        </p:nvSpPr>
        <p:spPr>
          <a:xfrm>
            <a:off x="2560320" y="3429000"/>
            <a:ext cx="1965960" cy="54864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44" name="Text 42"/>
          <p:cNvSpPr/>
          <p:nvPr/>
        </p:nvSpPr>
        <p:spPr>
          <a:xfrm>
            <a:off x="2651760" y="3566160"/>
            <a:ext cx="1783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分块级别去重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651760" y="3886200"/>
            <a:ext cx="1783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通过分块数据库记录已处理分块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3429000"/>
            <a:ext cx="1965960" cy="128016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47" name="Shape 45"/>
          <p:cNvSpPr/>
          <p:nvPr/>
        </p:nvSpPr>
        <p:spPr>
          <a:xfrm>
            <a:off x="4663440" y="3429000"/>
            <a:ext cx="1965960" cy="54864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48" name="Text 46"/>
          <p:cNvSpPr/>
          <p:nvPr/>
        </p:nvSpPr>
        <p:spPr>
          <a:xfrm>
            <a:off x="4754880" y="3566160"/>
            <a:ext cx="1783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编码缓存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54880" y="3886200"/>
            <a:ext cx="1783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EncodingDatabase 提供基于哈希的编码缓存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766560" y="3429000"/>
            <a:ext cx="1965960" cy="128016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51" name="Shape 49"/>
          <p:cNvSpPr/>
          <p:nvPr/>
        </p:nvSpPr>
        <p:spPr>
          <a:xfrm>
            <a:off x="6766560" y="3429000"/>
            <a:ext cx="1965960" cy="54864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2" name="Text 50"/>
          <p:cNvSpPr/>
          <p:nvPr/>
        </p:nvSpPr>
        <p:spPr>
          <a:xfrm>
            <a:off x="6858000" y="3566160"/>
            <a:ext cx="1783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向量库 ID 管理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858000" y="3886200"/>
            <a:ext cx="1783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通过 get_existing_ids() 获取已有 ID，避免重复插入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2743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总结与未来改进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0"/>
            <a:ext cx="1828800" cy="54864"/>
          </a:xfrm>
          <a:prstGeom prst="rect">
            <a:avLst/>
          </a:prstGeom>
          <a:solidFill>
            <a:srgbClr val="02C39A"/>
          </a:solid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73152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73152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6" name="Text 4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完整 RAG Pipeline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文档加载→清洗→分块→编码→向量存储→检索全流程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73152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9" name="Shape 7"/>
          <p:cNvSpPr/>
          <p:nvPr/>
        </p:nvSpPr>
        <p:spPr>
          <a:xfrm>
            <a:off x="4754880" y="914400"/>
            <a:ext cx="54864" cy="73152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0" name="Text 8"/>
          <p:cNvSpPr/>
          <p:nvPr/>
        </p:nvSpPr>
        <p:spPr>
          <a:xfrm>
            <a:off x="4937760" y="10058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大规模知识库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收录 HSK 1-6 级 200+ 套真题，向量数据库规模达 16,710 个片段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3931920" cy="73152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13" name="Shape 11"/>
          <p:cNvSpPr/>
          <p:nvPr/>
        </p:nvSpPr>
        <p:spPr>
          <a:xfrm>
            <a:off x="457200" y="1783080"/>
            <a:ext cx="54864" cy="73152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4" name="Text 12"/>
          <p:cNvSpPr/>
          <p:nvPr/>
        </p:nvSpPr>
        <p:spPr>
          <a:xfrm>
            <a:off x="640080" y="1874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高精度检索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1488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基于 BGE-base-zh-v1.5 + BGE Reranker，Top-5 检索命中率达 89%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783080"/>
            <a:ext cx="3931920" cy="73152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17" name="Shape 15"/>
          <p:cNvSpPr/>
          <p:nvPr/>
        </p:nvSpPr>
        <p:spPr>
          <a:xfrm>
            <a:off x="4754880" y="1783080"/>
            <a:ext cx="54864" cy="73152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8" name="Text 16"/>
          <p:cNvSpPr/>
          <p:nvPr/>
        </p:nvSpPr>
        <p:spPr>
          <a:xfrm>
            <a:off x="4937760" y="1874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工程化设计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1488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模块化架构、懒加载机制、增量更新支持、断点续传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3931920" cy="731520"/>
          </a:xfrm>
          <a:prstGeom prst="rect">
            <a:avLst/>
          </a:prstGeom>
          <a:solidFill>
            <a:srgbClr val="F5FAFA"/>
          </a:solidFill>
        </p:spPr>
      </p:sp>
      <p:sp>
        <p:nvSpPr>
          <p:cNvPr id="21" name="Shape 19"/>
          <p:cNvSpPr/>
          <p:nvPr/>
        </p:nvSpPr>
        <p:spPr>
          <a:xfrm>
            <a:off x="457200" y="2651760"/>
            <a:ext cx="54864" cy="73152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2" name="Text 20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TDD 实践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覆盖 3 个测试层级，总计 78+ 个测试用例，覆盖率 85%+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未来改进方向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188720"/>
          </a:xfrm>
          <a:prstGeom prst="rect">
            <a:avLst/>
          </a:prstGeom>
          <a:solidFill>
            <a:srgbClr val="F5FAFA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9728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Web 交互界面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50876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开发基于 Gradio/Streamlit 的可视化问答界面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37560" y="914400"/>
            <a:ext cx="2651760" cy="1188720"/>
          </a:xfrm>
          <a:prstGeom prst="rect">
            <a:avLst/>
          </a:prstGeom>
          <a:solidFill>
            <a:srgbClr val="F5FAFA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0515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31920" y="109728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MCP 协议集成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474720" y="150876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将系统核心功能封装为 MCP 工具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17920" y="914400"/>
            <a:ext cx="2651760" cy="1188720"/>
          </a:xfrm>
          <a:prstGeom prst="rect">
            <a:avLst/>
          </a:prstGeom>
          <a:solidFill>
            <a:srgbClr val="F5FAFA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515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12280" y="109728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安全增强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355080" y="150876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提示注入检测、文档内容安全检查、API 认证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2286000"/>
            <a:ext cx="2651760" cy="1188720"/>
          </a:xfrm>
          <a:prstGeom prst="rect">
            <a:avLst/>
          </a:prstGeom>
          <a:solidFill>
            <a:srgbClr val="F5FAFA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42316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246888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模型微调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94360" y="288036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 LoRA 对 BGE 模型进行 HSK 领域适配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337560" y="2286000"/>
            <a:ext cx="2651760" cy="1188720"/>
          </a:xfrm>
          <a:prstGeom prst="rect">
            <a:avLst/>
          </a:prstGeom>
          <a:solidFill>
            <a:srgbClr val="F5FAFA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42316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31920" y="246888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多轮对话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474720" y="288036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支持基于检索上下文的连续对话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217920" y="2286000"/>
            <a:ext cx="2651760" cy="1188720"/>
          </a:xfrm>
          <a:prstGeom prst="rect">
            <a:avLst/>
          </a:prstGeom>
          <a:solidFill>
            <a:srgbClr val="F5FAFA"/>
          </a:solidFill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42316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12280" y="246888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答案生成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355080" y="288036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集成 LLM 生成自然语言回答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开发心得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F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7589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数据质量是核心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7589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文档清洗的细致程度直接影响检索精度，投入时间优化清洗规则比单纯调整模型参数更有效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9" name="Text 7"/>
          <p:cNvSpPr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F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7589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分块策略至关重要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514600"/>
            <a:ext cx="7589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chunk_size=500 结合中文优化分隔符，在保持语义完整性和检索精度之间取得了良好平衡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3" name="Text 11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F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291840"/>
            <a:ext cx="7589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增量更新是工程化的关键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611880"/>
            <a:ext cx="7589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从全量构建转向增量更新后，知识库更新效率提升了数十倍，使系统具备了持续维护的可行性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457200" cy="45720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7" name="Text 15"/>
          <p:cNvSpPr/>
          <p:nvPr/>
        </p:nvSpPr>
        <p:spPr>
          <a:xfrm>
            <a:off x="457200" y="45262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F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389120"/>
            <a:ext cx="7589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测试是 AI 工程化的基石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09160"/>
            <a:ext cx="7589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TDD-for-AI 方法确保每个模块的功能正确性，测试覆盖率达到 85% 以上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8090">
              <a:alpha val="2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00A896">
              <a:alpha val="1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HSK-RAG 项目汇报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1.1,&quot;left&quot;:30.55,&quot;top&quot;:89.3,&quot;width&quot;:779.3}"/>
</p:tagLst>
</file>

<file path=ppt/tags/tag2.xml><?xml version="1.0" encoding="utf-8"?>
<p:tagLst xmlns:p="http://schemas.openxmlformats.org/presentationml/2006/main">
  <p:tag name="KSO_WM_DIAGRAM_VIRTUALLY_FRAME" val="{&quot;height&quot;:291.1,&quot;left&quot;:30.55,&quot;top&quot;:89.3,&quot;width&quot;:779.3}"/>
</p:tagLst>
</file>

<file path=ppt/tags/tag3.xml><?xml version="1.0" encoding="utf-8"?>
<p:tagLst xmlns:p="http://schemas.openxmlformats.org/presentationml/2006/main">
  <p:tag name="KSO_WM_DIAGRAM_VIRTUALLY_FRAME" val="{&quot;height&quot;:291.1,&quot;left&quot;:30.55,&quot;top&quot;:89.3,&quot;width&quot;:779.3}"/>
</p:tagLst>
</file>

<file path=ppt/tags/tag4.xml><?xml version="1.0" encoding="utf-8"?>
<p:tagLst xmlns:p="http://schemas.openxmlformats.org/presentationml/2006/main">
  <p:tag name="KSO_WM_DIAGRAM_VIRTUALLY_FRAME" val="{&quot;height&quot;:291.1,&quot;left&quot;:30.55,&quot;top&quot;:89.3,&quot;width&quot;:779.3}"/>
</p:tagLst>
</file>

<file path=ppt/tags/tag5.xml><?xml version="1.0" encoding="utf-8"?>
<p:tagLst xmlns:p="http://schemas.openxmlformats.org/presentationml/2006/main">
  <p:tag name="KSO_WM_DIAGRAM_VIRTUALLY_FRAME" val="{&quot;height&quot;:291.1,&quot;left&quot;:30.55,&quot;top&quot;:89.3,&quot;width&quot;:779.3}"/>
</p:tagLst>
</file>

<file path=ppt/tags/tag6.xml><?xml version="1.0" encoding="utf-8"?>
<p:tagLst xmlns:p="http://schemas.openxmlformats.org/presentationml/2006/main">
  <p:tag name="KSO_WM_DIAGRAM_VIRTUALLY_FRAME" val="{&quot;height&quot;:291.1,&quot;left&quot;:30.55,&quot;top&quot;:89.3,&quot;width&quot;:779.3}"/>
</p:tagLst>
</file>

<file path=ppt/tags/tag7.xml><?xml version="1.0" encoding="utf-8"?>
<p:tagLst xmlns:p="http://schemas.openxmlformats.org/presentationml/2006/main">
  <p:tag name="KSO_WM_DIAGRAM_VIRTUALLY_FRAME" val="{&quot;height&quot;:291.1,&quot;left&quot;:30.55,&quot;top&quot;:89.3,&quot;width&quot;:779.3}"/>
</p:tagLst>
</file>

<file path=ppt/tags/tag8.xml><?xml version="1.0" encoding="utf-8"?>
<p:tagLst xmlns:p="http://schemas.openxmlformats.org/presentationml/2006/main">
  <p:tag name="KSO_WM_DIAGRAM_VIRTUALLY_FRAME" val="{&quot;height&quot;:291.1,&quot;left&quot;:30.55,&quot;top&quot;:89.3,&quot;width&quot;:779.3}"/>
</p:tagLst>
</file>

<file path=ppt/tags/tag9.xml><?xml version="1.0" encoding="utf-8"?>
<p:tagLst xmlns:p="http://schemas.openxmlformats.org/presentationml/2006/main">
  <p:tag name="KSO_WM_DIAGRAM_VIRTUALLY_FRAME" val="{&quot;height&quot;:291.1,&quot;left&quot;:30.55,&quot;top&quot;:89.3,&quot;width&quot;:779.3}"/>
</p:tagLst>
</file>

<file path=ppt/tags/tag10.xml><?xml version="1.0" encoding="utf-8"?>
<p:tagLst xmlns:p="http://schemas.openxmlformats.org/presentationml/2006/main">
  <p:tag name="KSO_WM_DIAGRAM_VIRTUALLY_FRAME" val="{&quot;height&quot;:291.1,&quot;left&quot;:30.55,&quot;top&quot;:89.3,&quot;width&quot;:779.3}"/>
</p:tagLst>
</file>

<file path=ppt/tags/tag11.xml><?xml version="1.0" encoding="utf-8"?>
<p:tagLst xmlns:p="http://schemas.openxmlformats.org/presentationml/2006/main">
  <p:tag name="KSO_WM_DIAGRAM_VIRTUALLY_FRAME" val="{&quot;height&quot;:291.1,&quot;left&quot;:30.55,&quot;top&quot;:89.3,&quot;width&quot;:779.3}"/>
</p:tagLst>
</file>

<file path=ppt/tags/tag12.xml><?xml version="1.0" encoding="utf-8"?>
<p:tagLst xmlns:p="http://schemas.openxmlformats.org/presentationml/2006/main">
  <p:tag name="KSO_WM_DIAGRAM_VIRTUALLY_FRAME" val="{&quot;height&quot;:291.1,&quot;left&quot;:30.55,&quot;top&quot;:89.3,&quot;width&quot;:779.3}"/>
</p:tagLst>
</file>

<file path=ppt/tags/tag13.xml><?xml version="1.0" encoding="utf-8"?>
<p:tagLst xmlns:p="http://schemas.openxmlformats.org/presentationml/2006/main">
  <p:tag name="KSO_WM_DIAGRAM_VIRTUALLY_FRAME" val="{&quot;height&quot;:291.1,&quot;left&quot;:30.55,&quot;top&quot;:89.3,&quot;width&quot;:779.3}"/>
</p:tagLst>
</file>

<file path=ppt/tags/tag14.xml><?xml version="1.0" encoding="utf-8"?>
<p:tagLst xmlns:p="http://schemas.openxmlformats.org/presentationml/2006/main">
  <p:tag name="KSO_WM_DIAGRAM_VIRTUALLY_FRAME" val="{&quot;height&quot;:291.1,&quot;left&quot;:30.55,&quot;top&quot;:89.3,&quot;width&quot;:779.3}"/>
</p:tagLst>
</file>

<file path=ppt/tags/tag15.xml><?xml version="1.0" encoding="utf-8"?>
<p:tagLst xmlns:p="http://schemas.openxmlformats.org/presentationml/2006/main">
  <p:tag name="KSO_WM_DIAGRAM_VIRTUALLY_FRAME" val="{&quot;height&quot;:291.1,&quot;left&quot;:30.55,&quot;top&quot;:89.3,&quot;width&quot;:779.3}"/>
</p:tagLst>
</file>

<file path=ppt/tags/tag16.xml><?xml version="1.0" encoding="utf-8"?>
<p:tagLst xmlns:p="http://schemas.openxmlformats.org/presentationml/2006/main">
  <p:tag name="KSO_WM_DIAGRAM_VIRTUALLY_FRAME" val="{&quot;height&quot;:291.1,&quot;left&quot;:30.55,&quot;top&quot;:89.3,&quot;width&quot;:779.3}"/>
</p:tagLst>
</file>

<file path=ppt/tags/tag17.xml><?xml version="1.0" encoding="utf-8"?>
<p:tagLst xmlns:p="http://schemas.openxmlformats.org/presentationml/2006/main">
  <p:tag name="KSO_WM_DIAGRAM_VIRTUALLY_FRAME" val="{&quot;height&quot;:291.1,&quot;left&quot;:30.55,&quot;top&quot;:89.3,&quot;width&quot;:779.3}"/>
</p:tagLst>
</file>

<file path=ppt/tags/tag18.xml><?xml version="1.0" encoding="utf-8"?>
<p:tagLst xmlns:p="http://schemas.openxmlformats.org/presentationml/2006/main">
  <p:tag name="KSO_WM_DIAGRAM_VIRTUALLY_FRAME" val="{&quot;height&quot;:291.1,&quot;left&quot;:30.55,&quot;top&quot;:89.3,&quot;width&quot;:779.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4211</Words>
  <Application>WPS 演示</Application>
  <PresentationFormat>On-screen Show (16:9)</PresentationFormat>
  <Paragraphs>736</Paragraphs>
  <Slides>27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Arial</vt:lpstr>
      <vt:lpstr>宋体</vt:lpstr>
      <vt:lpstr>Wingdings</vt:lpstr>
      <vt:lpstr>Arial Black</vt:lpstr>
      <vt:lpstr>Arial Black</vt:lpstr>
      <vt:lpstr>Arial Black</vt:lpstr>
      <vt:lpstr>Arial</vt:lpstr>
      <vt:lpstr>Arial</vt:lpstr>
      <vt:lpstr>Calibri</vt:lpstr>
      <vt:lpstr>微软雅黑</vt:lpstr>
      <vt:lpstr>Arial Unicode MS</vt:lpstr>
      <vt:lpstr>等线</vt:lpstr>
      <vt:lpstr>Consolas</vt:lpstr>
      <vt:lpstr>Consolas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HSK-RAG 项目汇报</dc:title>
  <dc:creator>人工智能应用实践课程</dc:creator>
  <dc:subject>PptxGenJS Presentation</dc:subject>
  <cp:lastModifiedBy>生無锁链</cp:lastModifiedBy>
  <cp:revision>8</cp:revision>
  <dcterms:created xsi:type="dcterms:W3CDTF">2026-04-27T10:24:00Z</dcterms:created>
  <dcterms:modified xsi:type="dcterms:W3CDTF">2026-04-27T11:58:13Z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C25D6B78D6464D6A8778D0CCA87D24F1_12</vt:lpwstr>
  </property>
  <property fmtid="{D5CDD505-2E9C-101B-9397-08002B2CF9AE}" pid="3" name="KSOProductBuildVer">
    <vt:lpwstr>2052-12.1.0.25865</vt:lpwstr>
  </property>
</Properties>
</file>